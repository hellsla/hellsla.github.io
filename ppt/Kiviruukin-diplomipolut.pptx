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Kiviruukin lukiossa on kaksi diplomipolkua. Molemmat rakennetaan omista kiinnostuksen kohteista, ja molemmat huipentuvat diplomityöhön, joka esitellään Kiviruukkipäivänä.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Polut eivät ole toisiaan poissulkevia: innovaatiot, tekoäly sekä korkeakoulu- ja yritysyhteistyö kulkevat molemmissa.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Tiede ja teknologia -lukiodiplomi on valtakunnallinen lukiodiplomi: 2 op, jota edeltää vähintään 6 op soveltuvia opintoja.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Tarkista laajuus: 6 op + 2 op on tässä oletus, ei valtakunnallinen määräys.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Yhteinen ydin on syy siihen, että polut kannattaa esitellä yhdessä.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Diplomityö tehdään pääsääntöisesti toisen ja kolmannen vuoden aikana.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Tämä kalvo vastaa kysymykseen, joka opiskelijalla oikeasti on: mitä minä tästä saan?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Kerro tässä konkreettinen seuraava askel: kenelle ilmoittaudutaan ja milloin.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ellsla-github-io/8c5aa740-1a93-536b-bac3-17a0050ee220/scratchpad/ad/ppt/mark-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1481328" cy="9235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2395728"/>
            <a:ext cx="8778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Kaksi diplomipolkua.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3456432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C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Täällä taotaan tulevaisuutta.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422452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Tiede- ja teknologia -diplomi  ·  Talous- ja yrittäjyysdiplomi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5870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C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KIVIRUUKIN LUKIO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C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YLEISKUVA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Kaksi polkua, yhteinen ydin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224528" cy="3566160"/>
          </a:xfrm>
          <a:prstGeom prst="roundRect">
            <a:avLst>
              <a:gd name="adj" fmla="val 5128"/>
            </a:avLst>
          </a:prstGeom>
          <a:solidFill>
            <a:srgbClr val="0A2C79"/>
          </a:solidFill>
          <a:ln w="12700">
            <a:solidFill>
              <a:srgbClr val="8FC3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7824" y="1938528"/>
            <a:ext cx="36027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Tiede- ja teknologia</a:t>
            </a:r>
            <a:endParaRPr lang="en-US" sz="23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-diplomi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852928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Rakenna · Koodaa · Tutki · Näytä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3255264"/>
            <a:ext cx="36027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Yhdistä luonnontieteitä, matematiikkaa ja teknologiaa tekemiseen, tutkimiseen ja ongelmanratkaisuun.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4361688"/>
            <a:ext cx="3602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op + 2 op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4736592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Lukiodiplomi · Kiviruukkipäivä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00239" y="1664208"/>
            <a:ext cx="4224528" cy="3566160"/>
          </a:xfrm>
          <a:prstGeom prst="roundRect">
            <a:avLst>
              <a:gd name="adj" fmla="val 5128"/>
            </a:avLst>
          </a:prstGeom>
          <a:solidFill>
            <a:srgbClr val="0A2C79"/>
          </a:solidFill>
          <a:ln w="12700">
            <a:solidFill>
              <a:srgbClr val="FCA5C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11135" y="1938528"/>
            <a:ext cx="36027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Talous- ja</a:t>
            </a:r>
            <a:endParaRPr lang="en-US" sz="23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yrittäjyysdiplomi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711135" y="2852928"/>
            <a:ext cx="3602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Ideoi · Kokeile · Verkostoidu · Kasva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711135" y="3255264"/>
            <a:ext cx="36027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Kehitä talous-, työelämä- ja yrittäjyystaitojasi ja opi viemään ideat käytännön toiminnaksi.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711135" y="4361688"/>
            <a:ext cx="3602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op + 2 op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711135" y="4736592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Diplomi · Kiviruukkipäivä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20640" y="1984248"/>
            <a:ext cx="1950415" cy="2926080"/>
          </a:xfrm>
          <a:prstGeom prst="roundRect">
            <a:avLst>
              <a:gd name="adj" fmla="val 9376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5248656" y="2212848"/>
            <a:ext cx="169438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Yhteistä</a:t>
            </a:r>
            <a:endParaRPr lang="en-US" sz="17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molemmille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266944" y="3035808"/>
            <a:ext cx="1657807" cy="512064"/>
          </a:xfrm>
          <a:prstGeom prst="roundRect">
            <a:avLst>
              <a:gd name="adj" fmla="val 50000"/>
            </a:avLst>
          </a:prstGeom>
          <a:solidFill>
            <a:srgbClr val="01216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66944" y="3035808"/>
            <a:ext cx="165780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Innovaatiot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266944" y="3639312"/>
            <a:ext cx="1657807" cy="512064"/>
          </a:xfrm>
          <a:prstGeom prst="roundRect">
            <a:avLst>
              <a:gd name="adj" fmla="val 50000"/>
            </a:avLst>
          </a:prstGeom>
          <a:solidFill>
            <a:srgbClr val="01216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66944" y="3639312"/>
            <a:ext cx="165780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Tekoäly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266944" y="4242816"/>
            <a:ext cx="1657807" cy="512064"/>
          </a:xfrm>
          <a:prstGeom prst="roundRect">
            <a:avLst>
              <a:gd name="adj" fmla="val 50000"/>
            </a:avLst>
          </a:prstGeom>
          <a:solidFill>
            <a:srgbClr val="012169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266944" y="4242816"/>
            <a:ext cx="165780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Korkeakoulu- ja</a:t>
            </a:r>
            <a:endParaRPr lang="en-US" sz="11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yritysyhteistyö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91456" y="3447288"/>
            <a:ext cx="329184" cy="0"/>
          </a:xfrm>
          <a:prstGeom prst="line">
            <a:avLst/>
          </a:prstGeom>
          <a:noFill/>
          <a:ln w="12700">
            <a:solidFill>
              <a:srgbClr val="FCA5C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71055" y="3447288"/>
            <a:ext cx="329184" cy="0"/>
          </a:xfrm>
          <a:prstGeom prst="line">
            <a:avLst/>
          </a:prstGeom>
          <a:noFill/>
          <a:ln w="12700">
            <a:solidFill>
              <a:srgbClr val="FCA5C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6928" y="5532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Molemmissa poluissa vähintään 6 op opintoja ja 2 op lukiodiplomi.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POLKU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Tiede- ja teknologia -diplomi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35024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Rakenna · Koodaa · Tutki · Näytä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2880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Yhdistä luonnontieteitä, matematiikkaa ja teknologiaa tekemiseen, tutkimiseen ja ongelmanratkaisuun.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7980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C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MITÄ OPISKELET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3127248"/>
            <a:ext cx="1130198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8FC3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3127248"/>
            <a:ext cx="11301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Makerspace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797710" y="3127248"/>
            <a:ext cx="1130198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8FC3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797710" y="3127248"/>
            <a:ext cx="11301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robotiikka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28493" y="3127248"/>
            <a:ext cx="1215786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8FC3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28493" y="3127248"/>
            <a:ext cx="12157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ohjelmointi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44863" y="3127248"/>
            <a:ext cx="616671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8FC3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44863" y="3127248"/>
            <a:ext cx="6166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62118" y="3127248"/>
            <a:ext cx="1729313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8FC3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62118" y="3127248"/>
            <a:ext cx="172931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kyberturvallisuus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3593592"/>
            <a:ext cx="1386962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8FC3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3593592"/>
            <a:ext cx="13869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bioteknologia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054474" y="3593592"/>
            <a:ext cx="1729313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8FC3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054474" y="3593592"/>
            <a:ext cx="172931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terveysteknologia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884371" y="3593592"/>
            <a:ext cx="2071665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8FC3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884371" y="3593592"/>
            <a:ext cx="207166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dronet ja satelliitit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6928" y="4059936"/>
            <a:ext cx="267078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8FC3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6928" y="4059936"/>
            <a:ext cx="2670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luonnontieteellinen tutkimus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549640" y="1810512"/>
            <a:ext cx="3090672" cy="2651760"/>
          </a:xfrm>
          <a:prstGeom prst="roundRect">
            <a:avLst>
              <a:gd name="adj" fmla="val 6897"/>
            </a:avLst>
          </a:prstGeom>
          <a:solidFill>
            <a:srgbClr val="0A2C79"/>
          </a:solidFill>
          <a:ln w="12700">
            <a:solidFill>
              <a:srgbClr val="8FC3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778240" y="2304288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8FC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op + 2 op</a:t>
            </a:r>
            <a:endParaRPr lang="en-US" sz="2900" dirty="0"/>
          </a:p>
        </p:txBody>
      </p:sp>
      <p:sp>
        <p:nvSpPr>
          <p:cNvPr id="27" name="Text 25"/>
          <p:cNvSpPr txBox="1"/>
          <p:nvPr/>
        </p:nvSpPr>
        <p:spPr>
          <a:xfrm>
            <a:off x="8778240" y="2871216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opintoja + lukiodiplomi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778240" y="3419856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Lukiodiplomi · esittely Kiviruukkipäivänä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" y="4526280"/>
            <a:ext cx="11073384" cy="1298448"/>
          </a:xfrm>
          <a:prstGeom prst="roundRect">
            <a:avLst>
              <a:gd name="adj" fmla="val 12676"/>
            </a:avLst>
          </a:prstGeom>
          <a:solidFill>
            <a:srgbClr val="0A2C79"/>
          </a:solidFill>
          <a:ln w="9525">
            <a:solidFill>
              <a:srgbClr val="FFFFFF"/>
            </a:solidFill>
            <a:prstDash val="dash"/>
          </a:ln>
        </p:spPr>
      </p:sp>
      <p:pic>
        <p:nvPicPr>
          <p:cNvPr id="30" name="Image 0" descr="/tmp/claude-0/-home-user-hellsla-github-io/8c5aa740-1a93-536b-bac3-17a0050ee220/scratchpad/ad/ppt/mark-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4956048"/>
            <a:ext cx="713232" cy="448056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1938528" y="4736592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Kokoa oma kokonaisuutesi.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1938528" y="5175504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Valitse vähintään kolme opintojaksoa. Opintojaksojen projektit voit liittää portfolioosi.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C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POLKU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Talous- ja yrittäjyysdiplomi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35024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C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Ideoi · Kokeile · Verkostoidu · Kasva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2880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Kehitä talous-, työelämä- ja yrittäjyystaitojasi ja opi viemään ideat käytännön toiminnaksi.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7980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C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MITÄ OPISKELET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3127248"/>
            <a:ext cx="1130198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CA5C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3127248"/>
            <a:ext cx="11301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 talous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797710" y="3127248"/>
            <a:ext cx="147255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CA5C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797710" y="3127248"/>
            <a:ext cx="1472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työelämätaidot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70844" y="3127248"/>
            <a:ext cx="1130198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CA5C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70844" y="3127248"/>
            <a:ext cx="11301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yrittäjyys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01627" y="3127248"/>
            <a:ext cx="1386962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CA5C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01627" y="3127248"/>
            <a:ext cx="13869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sijoittaminen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3593592"/>
            <a:ext cx="2157252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CA5C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3593592"/>
            <a:ext cx="21572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yrittäjän matematiikka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824764" y="3593592"/>
            <a:ext cx="2071665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CA5C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824764" y="3593592"/>
            <a:ext cx="207166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ja markkinointi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97013" y="3593592"/>
            <a:ext cx="1643725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CA5C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97013" y="3593592"/>
            <a:ext cx="164372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verkostoituminen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4059936"/>
            <a:ext cx="1558138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CA5C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4059936"/>
            <a:ext cx="15581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Business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225650" y="4059936"/>
            <a:ext cx="1643725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CA5C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225650" y="4059936"/>
            <a:ext cx="164372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Vuosi yrittäjänä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549640" y="1810512"/>
            <a:ext cx="3090672" cy="2651760"/>
          </a:xfrm>
          <a:prstGeom prst="roundRect">
            <a:avLst>
              <a:gd name="adj" fmla="val 6897"/>
            </a:avLst>
          </a:prstGeom>
          <a:solidFill>
            <a:srgbClr val="0A2C79"/>
          </a:solidFill>
          <a:ln w="12700">
            <a:solidFill>
              <a:srgbClr val="FCA5C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778240" y="2304288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C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op + 2 op</a:t>
            </a:r>
            <a:endParaRPr lang="en-US" sz="2900" dirty="0"/>
          </a:p>
        </p:txBody>
      </p:sp>
      <p:sp>
        <p:nvSpPr>
          <p:cNvPr id="27" name="Text 25"/>
          <p:cNvSpPr txBox="1"/>
          <p:nvPr/>
        </p:nvSpPr>
        <p:spPr>
          <a:xfrm>
            <a:off x="8778240" y="2871216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opintoja + lukiodiplomi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778240" y="3419856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Diplomi · esittely Kiviruukkipäivänä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" y="4526280"/>
            <a:ext cx="11073384" cy="1298448"/>
          </a:xfrm>
          <a:prstGeom prst="roundRect">
            <a:avLst>
              <a:gd name="adj" fmla="val 12676"/>
            </a:avLst>
          </a:prstGeom>
          <a:solidFill>
            <a:srgbClr val="0A2C79"/>
          </a:solidFill>
          <a:ln w="9525">
            <a:solidFill>
              <a:srgbClr val="FFFFFF"/>
            </a:solidFill>
            <a:prstDash val="dash"/>
          </a:ln>
        </p:spPr>
      </p:sp>
      <p:pic>
        <p:nvPicPr>
          <p:cNvPr id="30" name="Image 0" descr="/tmp/claude-0/-home-user-hellsla-github-io/8c5aa740-1a93-536b-bac3-17a0050ee220/scratchpad/ad/ppt/mark-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4956048"/>
            <a:ext cx="713232" cy="448056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1938528" y="4736592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Kokoa oma kokonaisuutesi.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1938528" y="5175504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Valitse vähintään kolme opintojaksoa. Opintojaksojen projektit voit liittää portfolioosi.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C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YHTEINEN YDIN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Yhteistä molemmille poluille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Valitsit kumman polun tahansa, nämä kulkevat mukana.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975104"/>
            <a:ext cx="3493008" cy="3310128"/>
          </a:xfrm>
          <a:prstGeom prst="roundRect">
            <a:avLst>
              <a:gd name="adj" fmla="val 5525"/>
            </a:avLst>
          </a:prstGeom>
          <a:solidFill>
            <a:srgbClr val="0A2C79"/>
          </a:solidFill>
          <a:ln w="9525">
            <a:solidFill>
              <a:srgbClr val="FFFFFF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896112" y="2304288"/>
            <a:ext cx="566928" cy="566928"/>
          </a:xfrm>
          <a:prstGeom prst="ellipse">
            <a:avLst/>
          </a:prstGeom>
          <a:solidFill>
            <a:srgbClr val="FCA5C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23042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108960"/>
            <a:ext cx="28346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Innovaatiot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4096512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Ideasta kokeiluun ja kokeilusta valmiiseen ratkaisuun.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62272" y="1975104"/>
            <a:ext cx="3493008" cy="3310128"/>
          </a:xfrm>
          <a:prstGeom prst="roundRect">
            <a:avLst>
              <a:gd name="adj" fmla="val 5525"/>
            </a:avLst>
          </a:prstGeom>
          <a:solidFill>
            <a:srgbClr val="0A2C79"/>
          </a:solidFill>
          <a:ln w="9525">
            <a:solidFill>
              <a:srgbClr val="FFFFFF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791456" y="2304288"/>
            <a:ext cx="566928" cy="566928"/>
          </a:xfrm>
          <a:prstGeom prst="ellipse">
            <a:avLst/>
          </a:prstGeom>
          <a:solidFill>
            <a:srgbClr val="FCA5C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91456" y="23042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791456" y="3108960"/>
            <a:ext cx="28346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Tekoäly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4791456" y="4096512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Tekoälyn käyttö, mahdollisuudet ja rajat osana omaa työtä.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357616" y="1975104"/>
            <a:ext cx="3493008" cy="3310128"/>
          </a:xfrm>
          <a:prstGeom prst="roundRect">
            <a:avLst>
              <a:gd name="adj" fmla="val 5525"/>
            </a:avLst>
          </a:prstGeom>
          <a:solidFill>
            <a:srgbClr val="0A2C79"/>
          </a:solidFill>
          <a:ln w="9525">
            <a:solidFill>
              <a:srgbClr val="FFFFFF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686800" y="2304288"/>
            <a:ext cx="566928" cy="566928"/>
          </a:xfrm>
          <a:prstGeom prst="ellipse">
            <a:avLst/>
          </a:prstGeom>
          <a:solidFill>
            <a:srgbClr val="FCA5C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0" y="23042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0" y="3108960"/>
            <a:ext cx="28346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Korkeakoulu- ja</a:t>
            </a:r>
            <a:endParaRPr lang="en-US" sz="2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yritysyhteistyö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0" y="4096512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Oikeita toimeksiantoja ja kumppaneita lukion ulkopuolelta.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57424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Yhteinen ydin on syy siihen, että polut kannattaa esitellä yhdessä – ja syy, ettei valinta sulje mitään pois.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FC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AIKATAULU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Polku kolmessa vuodessa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841248" cy="841248"/>
          </a:xfrm>
          <a:prstGeom prst="ellipse">
            <a:avLst/>
          </a:prstGeom>
          <a:solidFill>
            <a:srgbClr val="012169"/>
          </a:solidFill>
          <a:ln w="19050">
            <a:solidFill>
              <a:srgbClr val="FCA5C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82880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C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773936" y="1883664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Tutustu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773936" y="230428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Valitse kiinnostavia opintoja ja etsi oma suuntasi.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87552" y="2724912"/>
            <a:ext cx="0" cy="292608"/>
          </a:xfrm>
          <a:prstGeom prst="line">
            <a:avLst/>
          </a:prstGeom>
          <a:noFill/>
          <a:ln w="12700">
            <a:solidFill>
              <a:srgbClr val="FCA5C7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66928" y="3072384"/>
            <a:ext cx="841248" cy="841248"/>
          </a:xfrm>
          <a:prstGeom prst="ellipse">
            <a:avLst/>
          </a:prstGeom>
          <a:solidFill>
            <a:srgbClr val="012169"/>
          </a:solidFill>
          <a:ln w="19050">
            <a:solidFill>
              <a:srgbClr val="FCA5C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3072384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C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773936" y="312724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Syvennä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773936" y="354787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Kokoa oma painotuksesi ja aloita diplomityö.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87552" y="3968496"/>
            <a:ext cx="0" cy="292608"/>
          </a:xfrm>
          <a:prstGeom prst="line">
            <a:avLst/>
          </a:prstGeom>
          <a:noFill/>
          <a:ln w="12700">
            <a:solidFill>
              <a:srgbClr val="FCA5C7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66928" y="4315968"/>
            <a:ext cx="841248" cy="841248"/>
          </a:xfrm>
          <a:prstGeom prst="ellipse">
            <a:avLst/>
          </a:prstGeom>
          <a:solidFill>
            <a:srgbClr val="012169"/>
          </a:solidFill>
          <a:ln w="19050">
            <a:solidFill>
              <a:srgbClr val="FCA5C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4315968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C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1773936" y="437083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Esittele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773936" y="479145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Diplomityö, portfolio ja esittely Kiviruukkipäivänä.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882128" y="1828800"/>
            <a:ext cx="3749040" cy="3328416"/>
          </a:xfrm>
          <a:prstGeom prst="roundRect">
            <a:avLst>
              <a:gd name="adj" fmla="val 5495"/>
            </a:avLst>
          </a:prstGeom>
          <a:solidFill>
            <a:srgbClr val="0A2C79"/>
          </a:solidFill>
          <a:ln w="12700">
            <a:solidFill>
              <a:srgbClr val="FCA5C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01584" y="2871216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C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op + 2 op</a:t>
            </a:r>
            <a:endParaRPr lang="en-US" sz="3100" dirty="0"/>
          </a:p>
        </p:txBody>
      </p:sp>
      <p:sp>
        <p:nvSpPr>
          <p:cNvPr id="20" name="Text 18"/>
          <p:cNvSpPr txBox="1"/>
          <p:nvPr/>
        </p:nvSpPr>
        <p:spPr>
          <a:xfrm>
            <a:off x="8101584" y="3529584"/>
            <a:ext cx="3310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Vähintään 6 op soveltuvia opintoja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 2 op lukiodiplomi.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7424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Diplomityö tehdään pääsääntöisesti toisen ja kolmannen vuoden aikana.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ellsla-github-io/8c5aa740-1a93-536b-bac3-17a0050ee220/scratchpad/ad/ppt/mark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457200"/>
            <a:ext cx="1234440" cy="7680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4572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A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MIKSI KANNATTAA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71323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Mitä saat diplomipolusta?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66928" y="1874520"/>
            <a:ext cx="5394960" cy="1828800"/>
          </a:xfrm>
          <a:prstGeom prst="roundRect">
            <a:avLst>
              <a:gd name="adj" fmla="val 9000"/>
            </a:avLst>
          </a:prstGeom>
          <a:solidFill>
            <a:srgbClr val="F1F5FC"/>
          </a:solidFill>
          <a:ln w="9525">
            <a:solidFill>
              <a:srgbClr val="D6E0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6112" y="2240280"/>
            <a:ext cx="457200" cy="457200"/>
          </a:xfrm>
          <a:prstGeom prst="ellipse">
            <a:avLst/>
          </a:prstGeom>
          <a:solidFill>
            <a:srgbClr val="FCA5C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96112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517904" y="220370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Oman painotuksen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517904" y="2660904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45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Rakenna kokonaisuus omien kiinnostuksenkohteidesi mukaan.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45352" y="1874520"/>
            <a:ext cx="5394960" cy="1828800"/>
          </a:xfrm>
          <a:prstGeom prst="roundRect">
            <a:avLst>
              <a:gd name="adj" fmla="val 9000"/>
            </a:avLst>
          </a:prstGeom>
          <a:solidFill>
            <a:srgbClr val="F1F5FC"/>
          </a:solidFill>
          <a:ln w="9525">
            <a:solidFill>
              <a:srgbClr val="D6E0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74536" y="2240280"/>
            <a:ext cx="457200" cy="457200"/>
          </a:xfrm>
          <a:prstGeom prst="ellipse">
            <a:avLst/>
          </a:prstGeom>
          <a:solidFill>
            <a:srgbClr val="FCA5C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574536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196328" y="220370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Jatko-opintovalmiuksia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7196328" y="2660904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45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Syvennä taitoja, joista on hyötyä korkeakouluissa ja työelämässä.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66928" y="4014216"/>
            <a:ext cx="5394960" cy="1828800"/>
          </a:xfrm>
          <a:prstGeom prst="roundRect">
            <a:avLst>
              <a:gd name="adj" fmla="val 9000"/>
            </a:avLst>
          </a:prstGeom>
          <a:solidFill>
            <a:srgbClr val="F1F5FC"/>
          </a:solidFill>
          <a:ln w="9525">
            <a:solidFill>
              <a:srgbClr val="D6E0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6112" y="4379976"/>
            <a:ext cx="457200" cy="457200"/>
          </a:xfrm>
          <a:prstGeom prst="ellipse">
            <a:avLst/>
          </a:prstGeom>
          <a:solidFill>
            <a:srgbClr val="FCA5C7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96112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517904" y="4343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Oikeita projekteja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1517904" y="4800600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45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 yhteistyötä yritysten, korkeakoulujen ja muiden kumppaneiden kanssa.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245352" y="4014216"/>
            <a:ext cx="5394960" cy="1828800"/>
          </a:xfrm>
          <a:prstGeom prst="roundRect">
            <a:avLst>
              <a:gd name="adj" fmla="val 9000"/>
            </a:avLst>
          </a:prstGeom>
          <a:solidFill>
            <a:srgbClr val="F1F5FC"/>
          </a:solidFill>
          <a:ln w="9525">
            <a:solidFill>
              <a:srgbClr val="D6E0F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74536" y="4379976"/>
            <a:ext cx="457200" cy="457200"/>
          </a:xfrm>
          <a:prstGeom prst="ellipse">
            <a:avLst/>
          </a:prstGeom>
          <a:solidFill>
            <a:srgbClr val="FCA5C7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574536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196328" y="4343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Näytön osaamisestasi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7196328" y="4800600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45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Kokoa osaamisesi diplomityöhön ja esittele se muille.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66928" y="61996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Molemmissa poluissa vähintään 6 op opintoja ja 2 op lukiodiplomi.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A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ellsla-github-io/8c5aa740-1a93-536b-bac3-17a0050ee220/scratchpad/ad/ppt/mark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1481328" cy="9235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2606040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11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Tuo oma kipinäsi.</a:t>
            </a:r>
            <a:endParaRPr lang="en-US" sz="52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3675888"/>
            <a:ext cx="9601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lukuvuoden alussa · kysy diplomipolkujen koordinaattorilta</a:t>
            </a:r>
            <a:endParaRPr lang="en-US" sz="19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5870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11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KIVIRUUKIN LUKIO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Kiviruukin lukion diplomipolut</dc:title>
  <dc:subject>PptxGenJS Presentation</dc:subject>
  <dc:creator>Kiviruukin lukio</dc:creator>
  <cp:lastModifiedBy>Kiviruukin lukio</cp:lastModifiedBy>
  <cp:revision>1</cp:revision>
  <dcterms:created xsi:type="dcterms:W3CDTF">2026-09-09T16:42:22Z</dcterms:created>
  <dcterms:modified xsi:type="dcterms:W3CDTF">2026-09-09T16:42:22Z</dcterms:modified>
</cp:coreProperties>
</file>